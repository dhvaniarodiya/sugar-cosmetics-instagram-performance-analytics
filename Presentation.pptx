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9"/>
  </p:notesMasterIdLst>
  <p:sldIdLst>
    <p:sldId id="281" r:id="rId5"/>
    <p:sldId id="282" r:id="rId6"/>
    <p:sldId id="283" r:id="rId7"/>
    <p:sldId id="285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93" r:id="rId16"/>
    <p:sldId id="295" r:id="rId17"/>
    <p:sldId id="29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6" d="100"/>
          <a:sy n="96" d="100"/>
        </p:scale>
        <p:origin x="1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B94D2E-832E-4454-88B1-C6C215C9E55C}" type="datetimeFigureOut">
              <a:rPr lang="en-US" smtClean="0"/>
              <a:t>11/15/2025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0A0A09-6FA2-432A-878F-290AC51C72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936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 dirty="0"/>
              <a:t>6/6/2019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6/6/2019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6/6/2019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6/6/2019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6/6/2019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6/6/2019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6/6/2019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6/6/2019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6/6/2019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6/6/2019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6/6/2019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6/6/2019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6/6/2019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6/6/2019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6/6/2019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r>
              <a:rPr lang="en-US" dirty="0"/>
              <a:t>6/6/2019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r>
              <a:rPr lang="en-US" dirty="0"/>
              <a:t>6/6/2019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6/6/2019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2668F1A4-6DBB-4F0B-A679-6EE548363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Freeform 5">
            <a:extLst>
              <a:ext uri="{FF2B5EF4-FFF2-40B4-BE49-F238E27FC236}">
                <a16:creationId xmlns:a16="http://schemas.microsoft.com/office/drawing/2014/main" id="{B8DBF1C0-B8F1-4AAC-8704-256BA0E9D6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794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pic>
        <p:nvPicPr>
          <p:cNvPr id="6" name="Picture 5" descr="purple tinted chalkboard">
            <a:extLst>
              <a:ext uri="{FF2B5EF4-FFF2-40B4-BE49-F238E27FC236}">
                <a16:creationId xmlns:a16="http://schemas.microsoft.com/office/drawing/2014/main" id="{12751E25-7490-4E9F-B6B6-99147D39E66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5000"/>
          </a:blip>
          <a:srcRect r="-1" b="21257"/>
          <a:stretch/>
        </p:blipFill>
        <p:spPr>
          <a:xfrm>
            <a:off x="474133" y="474133"/>
            <a:ext cx="11243734" cy="5909733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5B1457-35E0-409B-98CD-F11D19CA6F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4" y="2099733"/>
            <a:ext cx="9165839" cy="2677648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Arial Black" panose="020B0A04020102020204" pitchFamily="34" charset="0"/>
              </a:rPr>
              <a:t>Sugar Cosmetics</a:t>
            </a:r>
            <a:br>
              <a:rPr lang="en-US" altLang="zh-CN" dirty="0">
                <a:latin typeface="Arial Black" panose="020B0A04020102020204" pitchFamily="34" charset="0"/>
              </a:rPr>
            </a:br>
            <a:r>
              <a:rPr lang="en-IN" dirty="0">
                <a:latin typeface="Arial Black" panose="020B0A04020102020204" pitchFamily="34" charset="0"/>
              </a:rPr>
              <a:t>Instagram Performance Analytics</a:t>
            </a:r>
            <a:endParaRPr lang="en-US" dirty="0">
              <a:solidFill>
                <a:srgbClr val="FFFFFF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BDD245-17CD-4FBE-A9CF-AC997273DF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4" y="4777380"/>
            <a:ext cx="8827245" cy="58179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Subtitle :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Performance Evaluation &amp; Insights using Tableau</a:t>
            </a:r>
          </a:p>
          <a:p>
            <a:endParaRPr lang="en-US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70F7E59-C971-4F55-8E3A-1E583B65F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DE350B1-73A0-7C3F-06D6-2742B2E023C4}"/>
              </a:ext>
            </a:extLst>
          </p:cNvPr>
          <p:cNvSpPr txBox="1">
            <a:spLocks/>
          </p:cNvSpPr>
          <p:nvPr/>
        </p:nvSpPr>
        <p:spPr bwMode="gray">
          <a:xfrm>
            <a:off x="1154954" y="5541560"/>
            <a:ext cx="8979645" cy="4537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 cap="all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rgbClr val="FFFFFF"/>
                </a:solidFill>
              </a:rPr>
              <a:t>PRESENTED BY – DHVANI ARODIYA</a:t>
            </a:r>
          </a:p>
          <a:p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6583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D33FC-68BA-69BB-74F8-2F0C7741E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5452F-6A11-0683-52A3-C6C3CB897A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9186" y="2603500"/>
            <a:ext cx="9144000" cy="3416300"/>
          </a:xfrm>
        </p:spPr>
        <p:txBody>
          <a:bodyPr/>
          <a:lstStyle/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Sugar Cosmetics is a leading beauty brand with a vibrant online presence.</a:t>
            </a:r>
          </a:p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optimize marketing effectiveness, this project analyzes their Instagram performance using Tableau.</a:t>
            </a:r>
            <a:b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study focuses on engagement metrics, content types, hashtags, and audience behavior to support data-driven decision-making.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6794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7437B-C407-3CE5-E8B8-3A820E6B8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05D9E-D12B-DFB7-E330-27088EF70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6163" y="2719346"/>
            <a:ext cx="9016778" cy="3593990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Manual Instagram performance tracking is time-consuming.</a:t>
            </a:r>
          </a:p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clear visibility into which post type or campaign performs best.</a:t>
            </a:r>
          </a:p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Lack of an interactive dashboard for quick business insights.</a:t>
            </a:r>
          </a:p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Need for a data-driven approach to improve engagement strategy.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0421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CC178-3D36-6BA3-0E36-6B3D8CCAC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213DA-B2DE-E39F-85D5-8ED5B4CA1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8110" y="2603500"/>
            <a:ext cx="9684689" cy="3416300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Evaluate Instagram performance using KPIs (Likes, Comments, Reach, etc.).</a:t>
            </a:r>
          </a:p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Compare post types (Image, Reel, Carousel, Video) to find the most effective format.</a:t>
            </a:r>
          </a:p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Analyze campaign success and engagement rates.</a:t>
            </a:r>
          </a:p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 high-performing hashtags and posting trends.</a:t>
            </a:r>
          </a:p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 actionable recommendations for growth.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3196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D424F-7815-5BF6-6268-34ECA0064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Scope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BB2C5-CFAD-89FD-11C8-D801DF0BD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7868" y="2603500"/>
            <a:ext cx="9931179" cy="3503102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Platform: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Instagram (Sugar Cosmetics official handle)</a:t>
            </a:r>
          </a:p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Tools Used: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Microsoft Excel:</a:t>
            </a:r>
            <a:r>
              <a:rPr lang="en-US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data cleaning, formatting, and preprocessing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Tableau Public:</a:t>
            </a:r>
            <a:r>
              <a:rPr lang="en-US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data visualization and dashboard creation.</a:t>
            </a:r>
          </a:p>
          <a:p>
            <a:pPr marL="800100" lvl="1" indent="-342900"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it-IT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 Source:</a:t>
            </a:r>
            <a:r>
              <a:rPr lang="it-IT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Social Media Analytics Dataset </a:t>
            </a:r>
          </a:p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Metrics: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Likes, Comments, Shares, Saves, Reach, Impressions, Engagement Rate, Profile Visits, Follows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187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AE157-ED5A-9B23-4046-438ACA23E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Dataset Description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F7E80-BC98-0ABF-02FA-205BBDF16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31882"/>
            <a:ext cx="9992775" cy="3578087"/>
          </a:xfrm>
        </p:spPr>
        <p:txBody>
          <a:bodyPr>
            <a:norm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Post Type: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Format of the content (Image, Video, Reel, Carousel)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Campaign Type: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Type of marketing activity (Tutorial, Giveaway, Festive Offer, etc.).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Hashtags1–3: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Keywords used to improve discoverability and engagement.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Impressions: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Total number of times the post was viewed.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Reach: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Unique users who saw the post.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Likes, Comments, Shares, Saves: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Indicators of audience engagement and interaction.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Profile Visits: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Number of users who visited the brand’s Instagram page after seeing the post.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Follows: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New followers gained as a result of the post.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9303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1A739-4CD4-0D30-D82D-AC3DF7B2C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br>
              <a:rPr lang="en-IN" b="1" dirty="0"/>
            </a:b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1D267-EEB9-A5F1-161B-94ED51F192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0748" y="2603500"/>
            <a:ext cx="9708542" cy="3407686"/>
          </a:xfrm>
        </p:spPr>
        <p:txBody>
          <a:bodyPr>
            <a:normAutofit fontScale="92500" lnSpcReduction="20000"/>
          </a:bodyPr>
          <a:lstStyle/>
          <a:p>
            <a:pPr>
              <a:buFont typeface="+mj-lt"/>
              <a:buAutoNum type="arabicPeriod"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Cleaning: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Removed null values and formatted dates in Excel.</a:t>
            </a:r>
          </a:p>
          <a:p>
            <a:pPr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 Creation: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Calculated new fields in Tableau: Engagement, Engagement Rate (%), Month-Year, Weekday ,etc.</a:t>
            </a:r>
          </a:p>
          <a:p>
            <a:pPr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Visualization Design: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Created charts for KPIs, trends, engagement, and hashtags.</a:t>
            </a:r>
          </a:p>
          <a:p>
            <a:pPr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Dashboard Integration: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Combined visuals into an interactive Tableau dashboard with filters.</a:t>
            </a:r>
          </a:p>
          <a:p>
            <a:pPr>
              <a:buFont typeface="+mj-lt"/>
              <a:buAutoNum type="arabi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Insight Generation: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Analyzed results to recommend strategies for higher engagement.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3300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0475D-1762-B6A6-EE55-2B5053BA6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Visual Analysis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4EE20-B266-3E96-23F5-D9F8B6A29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7677" y="2417198"/>
            <a:ext cx="9055609" cy="399950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Dashboards &amp; Charts Created in Tableau: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KPI Overview</a:t>
            </a:r>
          </a:p>
          <a:p>
            <a:pPr lvl="1"/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Monthly Posting Trend (Line Chart)</a:t>
            </a:r>
          </a:p>
          <a:p>
            <a:pPr lvl="1"/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Top 10 Posts by Likes (Bar Chart)</a:t>
            </a:r>
          </a:p>
          <a:p>
            <a:pPr lvl="1"/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Top 10 Posts by Engagement Rate (Bar Chart)</a:t>
            </a:r>
          </a:p>
          <a:p>
            <a:pPr lvl="1"/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Post Type Comparison (Grouped Bar Chart)</a:t>
            </a:r>
          </a:p>
          <a:p>
            <a:pPr lvl="1"/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Weekday Engagement Analysis (Bar Chart)</a:t>
            </a:r>
          </a:p>
          <a:p>
            <a:pPr lvl="1"/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Follows vs Profile Visits (Dual Axis Combo Chart)</a:t>
            </a:r>
          </a:p>
          <a:p>
            <a:pPr lvl="1"/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Reach vs Likes (Scatter Plot)</a:t>
            </a:r>
          </a:p>
          <a:p>
            <a:pPr lvl="1"/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Hashtag Analysis (Pie Chart)</a:t>
            </a:r>
          </a:p>
          <a:p>
            <a:pPr lvl="1"/>
            <a:r>
              <a:rPr lang="en-IN" sz="2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Campaign Type Impact (</a:t>
            </a:r>
            <a:r>
              <a:rPr lang="en-IN" sz="2100" dirty="0" err="1">
                <a:latin typeface="Arial" panose="020B0604020202020204" pitchFamily="34" charset="0"/>
                <a:cs typeface="Arial" panose="020B0604020202020204" pitchFamily="34" charset="0"/>
              </a:rPr>
              <a:t>Treemap</a:t>
            </a:r>
            <a:r>
              <a:rPr lang="en-IN" sz="2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21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Final Interactive Dashboard</a:t>
            </a:r>
          </a:p>
        </p:txBody>
      </p:sp>
    </p:spTree>
    <p:extLst>
      <p:ext uri="{BB962C8B-B14F-4D97-AF65-F5344CB8AC3E}">
        <p14:creationId xmlns:p14="http://schemas.microsoft.com/office/powerpoint/2010/main" val="2561066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6FF20-9324-65E6-271D-B51346424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85630-2EB8-4A59-F6AF-1D83A8C00D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965" y="2603500"/>
            <a:ext cx="8668648" cy="3416300"/>
          </a:xfrm>
        </p:spPr>
        <p:txBody>
          <a:bodyPr>
            <a:normAutofit lnSpcReduction="10000"/>
          </a:bodyPr>
          <a:lstStyle/>
          <a:p>
            <a:r>
              <a:rPr lang="en-US" u="sng" dirty="0">
                <a:latin typeface="Arial" panose="020B0604020202020204" pitchFamily="34" charset="0"/>
                <a:cs typeface="Arial" panose="020B0604020202020204" pitchFamily="34" charset="0"/>
              </a:rPr>
              <a:t>Reels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u="sng" dirty="0">
                <a:latin typeface="Arial" panose="020B0604020202020204" pitchFamily="34" charset="0"/>
                <a:cs typeface="Arial" panose="020B0604020202020204" pitchFamily="34" charset="0"/>
              </a:rPr>
              <a:t>Tutorials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achieved the highest engagement rate.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Posting frequency was consistent during festive campaigns.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u="sng" dirty="0">
                <a:latin typeface="Arial" panose="020B0604020202020204" pitchFamily="34" charset="0"/>
                <a:cs typeface="Arial" panose="020B0604020202020204" pitchFamily="34" charset="0"/>
              </a:rPr>
              <a:t>Peak engagement days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Wednesday and Thursday.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u="sng" dirty="0">
                <a:latin typeface="Arial" panose="020B0604020202020204" pitchFamily="34" charset="0"/>
                <a:cs typeface="Arial" panose="020B0604020202020204" pitchFamily="34" charset="0"/>
              </a:rPr>
              <a:t>Top hashtags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#CrueltyFree, #VeganBeauty, #MakeupGoals.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Festive and tutorial campaigns contributed most to new followers.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7367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34EDE-9532-0B19-C748-A7E8C9F42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Business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D6A54-D1D3-AD5E-1903-33AEE5171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6306" y="2603500"/>
            <a:ext cx="9064487" cy="3416300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Focus on Reels &amp; Tutorials — highest engagement and follower conversion.</a:t>
            </a:r>
          </a:p>
          <a:p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 mid-week (Wed–Thu) for maximum visibility.</a:t>
            </a:r>
          </a:p>
          <a:p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hashtags consistently to reach new audiences.</a:t>
            </a:r>
          </a:p>
          <a:p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Incorporate clear CTAs (e.g., “Save this look”, “Tag a friend”).</a:t>
            </a:r>
          </a:p>
          <a:p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Repurpose high-performing posts for paid promotion campaigns.</a:t>
            </a:r>
            <a:endParaRPr lang="en-I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91911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89E3D-FAA8-ED2B-8C24-2ABAD5DBD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24292-FD62-1BA2-5843-5DAEA93E0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7137" y="2687542"/>
            <a:ext cx="9175805" cy="3196790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Tableau visualizations helped simplify and interpret Instagram data.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dashboard provides actionable insights for marketing decisions.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Data-driven planning can increase audience retention and conversion.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Sugar Cosmetics can now focus resources on high-engagement strategies.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0423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475D2-D985-CA57-1FB4-AA56FFF1B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Future Enhancements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16074-EB92-DF55-7464-1150D3A28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526" y="2695492"/>
            <a:ext cx="9303027" cy="3324308"/>
          </a:xfrm>
        </p:spPr>
        <p:txBody>
          <a:bodyPr/>
          <a:lstStyle/>
          <a:p>
            <a:r>
              <a:rPr lang="en-US" dirty="0"/>
              <a:t>Integrate Instagram API for </a:t>
            </a:r>
            <a:r>
              <a:rPr lang="en-US" b="1" dirty="0"/>
              <a:t>live performance tracking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IN" dirty="0"/>
              <a:t>Add </a:t>
            </a:r>
            <a:r>
              <a:rPr lang="en-IN" b="1" dirty="0"/>
              <a:t>sentiment analysis</a:t>
            </a:r>
            <a:r>
              <a:rPr lang="en-IN" dirty="0"/>
              <a:t> for audience reactions on comments.</a:t>
            </a:r>
          </a:p>
          <a:p>
            <a:endParaRPr lang="en-IN" dirty="0"/>
          </a:p>
          <a:p>
            <a:r>
              <a:rPr lang="en-US" dirty="0"/>
              <a:t>Expand analysis to </a:t>
            </a:r>
            <a:r>
              <a:rPr lang="en-US" b="1" dirty="0"/>
              <a:t>cross-platform performance</a:t>
            </a:r>
            <a:r>
              <a:rPr lang="en-US" dirty="0"/>
              <a:t> (Facebook, YouTube, etc.).</a:t>
            </a:r>
          </a:p>
          <a:p>
            <a:endParaRPr lang="en-US" dirty="0"/>
          </a:p>
          <a:p>
            <a:r>
              <a:rPr lang="en-US" dirty="0"/>
              <a:t>Automate monthly reporting for faster marketing insights.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40240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0C8E4-9568-B9EA-4B60-23524C3366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4" y="792642"/>
            <a:ext cx="9882091" cy="5290106"/>
          </a:xfrm>
        </p:spPr>
        <p:txBody>
          <a:bodyPr/>
          <a:lstStyle/>
          <a:p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32D3F1-E95B-8501-B6F8-357C72E3FC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1001864"/>
            <a:ext cx="8825658" cy="4636936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FINAL DASHBOARD</a:t>
            </a:r>
            <a:endParaRPr lang="en-IN" b="1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6E7B90-E752-DA9D-B62E-9CF63D3868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954" y="1445812"/>
            <a:ext cx="9945701" cy="4636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1635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8BDD5-93D0-32B9-B207-4BEC8F9BD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2595" y="830944"/>
            <a:ext cx="9708541" cy="3189996"/>
          </a:xfrm>
        </p:spPr>
        <p:txBody>
          <a:bodyPr/>
          <a:lstStyle/>
          <a:p>
            <a:pPr algn="ctr"/>
            <a:r>
              <a:rPr lang="en-IN" sz="5000" b="1" dirty="0">
                <a:latin typeface="Arial Rounded MT Bold" panose="020F0704030504030204" pitchFamily="34" charset="0"/>
              </a:rPr>
              <a:t>THANK  YOU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B85BBC-AD81-1485-8041-1766BB61A263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2011680" y="3678766"/>
            <a:ext cx="7927450" cy="342174"/>
          </a:xfrm>
        </p:spPr>
        <p:txBody>
          <a:bodyPr/>
          <a:lstStyle/>
          <a:p>
            <a:r>
              <a:rPr lang="en-IN" dirty="0"/>
              <a:t>--------------------------------------------------------------------------------------------------------------------------------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B40BC8-DE88-EEA1-BB6A-B63E4722888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IN" sz="1600" b="1" dirty="0">
                <a:solidFill>
                  <a:schemeClr val="accent1"/>
                </a:solidFill>
              </a:rPr>
              <a:t>							PRESENTED BY : DHVANI ARODIYA </a:t>
            </a:r>
          </a:p>
          <a:p>
            <a:r>
              <a:rPr lang="en-IN" sz="1600" b="1" dirty="0">
                <a:solidFill>
                  <a:schemeClr val="accent1"/>
                </a:solidFill>
              </a:rPr>
              <a:t>							BATCH : DATA ANALYSIS</a:t>
            </a:r>
          </a:p>
        </p:txBody>
      </p:sp>
    </p:spTree>
    <p:extLst>
      <p:ext uri="{BB962C8B-B14F-4D97-AF65-F5344CB8AC3E}">
        <p14:creationId xmlns:p14="http://schemas.microsoft.com/office/powerpoint/2010/main" val="20013512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AC0CEB4-BFAC-4014-9B69-2CFFE0B783D9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F44B8C88-7AFD-4F93-AF50-E36A0AADA3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F666C14-7219-46F1-8169-9E45DA110AD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 Boardroom design</Template>
  <TotalTime>150</TotalTime>
  <Words>713</Words>
  <Application>Microsoft Office PowerPoint</Application>
  <PresentationFormat>Widescreen</PresentationFormat>
  <Paragraphs>112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Arial Black</vt:lpstr>
      <vt:lpstr>Arial Rounded MT Bold</vt:lpstr>
      <vt:lpstr>Calibri</vt:lpstr>
      <vt:lpstr>Century Gothic</vt:lpstr>
      <vt:lpstr>Wingdings 3</vt:lpstr>
      <vt:lpstr>Ion Boardroom</vt:lpstr>
      <vt:lpstr>Sugar Cosmetics Instagram Performance Analytics</vt:lpstr>
      <vt:lpstr>Introduction</vt:lpstr>
      <vt:lpstr>Problem Statement </vt:lpstr>
      <vt:lpstr>Objectives</vt:lpstr>
      <vt:lpstr>Scope of the Project</vt:lpstr>
      <vt:lpstr>Dataset Description</vt:lpstr>
      <vt:lpstr> Methodology </vt:lpstr>
      <vt:lpstr>Visual Analysis Summary</vt:lpstr>
      <vt:lpstr>Key Insights</vt:lpstr>
      <vt:lpstr>Business Recommendations</vt:lpstr>
      <vt:lpstr>Conclusion</vt:lpstr>
      <vt:lpstr>Future Enhancements</vt:lpstr>
      <vt:lpstr>PowerPoint Presentation</vt:lpstr>
      <vt:lpstr>THANK 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Dhvani Arodiya</dc:creator>
  <cp:lastModifiedBy>Dhvani Arodiya</cp:lastModifiedBy>
  <cp:revision>4</cp:revision>
  <dcterms:created xsi:type="dcterms:W3CDTF">2025-11-10T11:55:40Z</dcterms:created>
  <dcterms:modified xsi:type="dcterms:W3CDTF">2025-11-15T13:19:17Z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